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Falcon 9 First-Stage Landing Prediction  |  Keming (Jolin) Jiao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/blob/main/01_data_collection_api.ipynb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/blob/main/02_data_collection_webscraping.ipynb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/blob/main/03_data_wrangling.ipynb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/blob/main/05_eda_dataviz.ipynb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/blob/main/04_eda_sql.ipynb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/blob/main/06_launch_site_folium.ipynb" TargetMode="External"/><Relationship Id="rId2" Type="http://schemas.openxmlformats.org/officeDocument/2006/relationships/hyperlink" Target="https://github.com/keming-jiao/spacex-capstone/blob/main/07_spacex_dash_app.py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/blob/main/08_machine_learning_prediction.ipynb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eming-jiao/spacex-capstone" TargetMode="Externa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eming-jiao/spacex-capstone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SpaceX Falcon 9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First-Stage Landing Success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Project Report — IBM Applied Data Science Capstone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46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Keming (Jolin) Jiao  |  October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GitHub repository: </a:t>
            </a:r>
            <a:pPr indent="0" marL="0">
              <a:buNone/>
            </a:pPr>
            <a:r>
              <a:rPr lang="en-US" sz="1400" u="sng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325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984248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84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642616"/>
            <a:ext cx="457200" cy="457200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4261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3300984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30098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3959352"/>
            <a:ext cx="457200" cy="457200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59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Insights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22960" y="5276088"/>
            <a:ext cx="457200" cy="457200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2760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collection: SpaceX REST API (v4) + web scraping of the Wikipedia Falcon 9 launch table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wrangling: filtered to Falcon 9, imputed missing payload mass, built binary landing label Class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Python visualisation (Matplotlib/Seaborn) and SQL (SQLite)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 analytics: Folium map and Plotly Dash dashboard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analysis: Logistic Regression, SVM, Decision Tree and KNN tuned with 10-fold GridSearchCV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422392" cy="46177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78308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Falcon 9 launches analysed; overall landing success rate 66.7%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rose from 0% (2010–2013) to 90% in 2019 — strong learning curve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KSC LC-39A has the most successful launches (10 of 13, 76.9%)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ES-L1, GEO, HEO and SSO orbits had 100% landing success; GTO was hardest (52%)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model: SVM — 83.3% test accuracy, 84.8% CV accuracy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never miss a real landing (0 false negatives); the remaining error is false positives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background and context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advertises Falcon 9 launches at about $62 million, while other providers charge $165 million or more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that saving comes from recovering and reusing the first stage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can predict whether the first stage will land, we can estimate the cost of a launch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competitor (Space Y) can use this to price its bids against SpaceX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422392" cy="4572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we want to answer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78308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predict whether the Falcon 9 first stage will land successfully (Class = 1) or not (Class = 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factors — payload mass, orbit, launch site, flight number, booster version — drive landing success?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has the success rate changed over time?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classification model predicts landing outcome best, and how reliable is it?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0"/>
            <a:ext cx="365760" cy="365760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732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→ wrangling → EDA → interactive analytics → predictive modelling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Overview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21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was done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collection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SpaceX REST API + web scraping of Wikipedia (requests, BeautifulSoup)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wrangling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 Falcon 9, handle missing values, derive Class label from landing Outcome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Visualisation (scatter, bar, line charts) and SQL queries on SQLite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Interactive visual analytics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Folium maps (markers, clusters, distance lines) and Plotly Dash dashboard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Predictive analysis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Standardise, train/test split, GridSearchCV over LR, SVM, Tree, KNN; evaluate on test set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893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complementary sources were combined to describe every Falcon 9 launch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1 — SpaceX REST API (api.spacexdata.com/v4/launches/past)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request → JSON → pandas DataFrame with json_normalize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API calls by ID for rocket, launchpad, payload and core details</a:t>
            </a:r>
            <a:endParaRPr lang="en-US" sz="15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2 — Web scraping (Wikipedia: List of Falcon 9 and Falcon Heavy launches)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+ BeautifulSoup parse the launch HTML tables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flight no., date, booster, launch site, payload, mass, orbit, customer, launch &amp; landing outcome</a:t>
            </a:r>
            <a:endParaRPr lang="en-US" sz="15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→ 90 Falcon 9 launches (dataset_part_1.csv); Wikipedia → 121 launch records (spacex_web_scraped.csv)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893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– SpaceX API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of the API calls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/v4/launches/past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rot="5400000">
            <a:off x="2151888" y="183337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80488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80488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response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json_normalize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4075176" y="183337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3776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03776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rocket, payloads, launchpad, cores, date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5400000">
            <a:off x="5998464" y="183337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7064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API calls: getBoosterVersion, getLaunchSite, getPayloadData, getCoreData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5400000">
            <a:off x="7921752" y="183337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0352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50352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DataFrame &amp; filter Falcon 9 only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rot="5400000">
            <a:off x="9845040" y="183337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73640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73640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 PayloadMass with mean → CSV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code phrases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154680"/>
            <a:ext cx="11247120" cy="260604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requests.get("https://api.spacexdata.com/v4/launches/past")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pd.json_normalize(response.json())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data[data['cores'].map(len)==1]   # single-core launches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getBoosterVersion(data); getLaunchSite(data); getPayloadData(data); getCoreData(data)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data_falcon9 = launch_df[launch_df['BoosterVersion']!='Falcon 1']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data_falcon9['PayloadMass'].fillna(data_falcon9['PayloadMass'].mean(), inplace=True)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9893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https://github.com/keming-jiao/spacex-capstone/blob/main/01_data_collection_api.ipynb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– Web Scraping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of the scraping process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requests.get(Wikipedia static URL)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rot="5400000">
            <a:off x="2151888" y="183337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80488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80488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BeautifulSoup(html, 'html.parser')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4075176" y="183337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3776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03776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find_all('table') → launch tables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5400000">
            <a:off x="5998464" y="183337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7064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column names from &lt;th&gt;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5400000">
            <a:off x="7921752" y="183337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0352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50352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&lt;tr&gt;/&lt;td&gt;: parse date, booster, mass, orbit, outcomes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rot="5400000">
            <a:off x="9845040" y="183337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73640" y="14630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73640" y="146304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 → DataFrame → CSV (121 rows)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code phrases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154680"/>
            <a:ext cx="11247120" cy="260604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static_url = 'https://en.wikipedia.org/w/index.php?title=List_of_Falcon_9_and_Falcon_Heavy_launches&amp;oldid=1027686922'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soup = BeautifulSoup(requests.get(static_url).text, 'html.parser')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html_tables = soup.find_all('table');  first_launch_table = html_tables[2]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column_names = [extract_column_from_header(th) for th in first_launch_table.find_all('th')]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table in soup.find_all('table', 'wikitable plainrowheaders collapsible'):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pd.DataFrame({k: pd.Series(v) for k, v in launch_dict.items()})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9893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https://github.com/keming-jiao/spacex-capstone/blob/main/02_data_collection_webscraping.ipynb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Cleaning, processing and creating the training label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630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dataset_part_1.csv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rot="5400000">
            <a:off x="2151888" y="169621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80488" y="137160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80488" y="1371600"/>
            <a:ext cx="1630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missing values &amp; dtypes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4075176" y="169621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3776" y="137160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03776" y="1371600"/>
            <a:ext cx="1630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launches per site &amp; per orbit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5400000">
            <a:off x="5998464" y="169621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137160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7064" y="1371600"/>
            <a:ext cx="1630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landing outcomes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5400000">
            <a:off x="7921752" y="169621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0352" y="137160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50352" y="1371600"/>
            <a:ext cx="1630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outcomes → Class (0/1)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rot="5400000">
            <a:off x="9845040" y="169621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73640" y="137160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73640" y="1371600"/>
            <a:ext cx="1630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dataset_part_2.csv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514600"/>
            <a:ext cx="11247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values: PayloadMass imputed with mean during collection; LandingPad left missing for 26 launches where no pad was used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outcomes such as 'True ASDS', 'True RTLS', 'True Ocean' = success (Class = 1)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bad_outcomes = {False ASDS, False Ocean, False RTLS, None ASDS, None None} → Class = 0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Resulting label: 90 launches, 66.7% success (df['Class'].mean())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 of Orbit, LaunchSite, LandingPad, Serial for modelling → dataset_part_3.csv (80 features)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9893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https://github.com/keming-jiao/spacex-capstone/blob/main/03_data_wrangling.ipynb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Data Visualization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plotted and why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56616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Scatter (catplot)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Flight Number vs. Launch Site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experience at a site improve landing?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Scatter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 Mass vs. Launch Site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heavy payloads launched from specific sites, and do they land?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chart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rate by Orbit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orbit types are easiest / hardest to recover from?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Scatter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Flight Number vs. Orbit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orbit success driven by experience?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Scatter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 Mass vs. Orbit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payload interacts with orbit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chart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Yearly average success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 of landing success over 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9893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https://github.com/keming-jiao/spacex-capstone/blob/main/05_eda_dataviz.ipynb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— Summary of SQL Queries Performed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SQL queries run on the SPACEXTABLE table in SQLite (sqlite3 + pandas.read_sql)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035040"/>
                <a:gridCol w="4754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query performed (summary)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 / what it answers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DISTINCT Launch_Site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 of the unique launch sites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Launch_Site LIKE 'CCA%' LIMIT 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records of launch sites beginning with 'CCA'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SUM(PAYLOAD_MASS__KG_) WHERE Customer='NASA (CRS)'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payload mass carried for NASA (CRS)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AVG(PAYLOAD_MASS__KG_) WHERE Booster_Version LIKE 'F9 v1.1%'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payload mass of booster F9 v1.1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MIN(Date) WHERE Landing_Outcome='Success (ground pad)'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of first successful ground-pad landing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drone-ship success AND 4000 &lt; payload &lt; 6000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Boosters with drone-ship success in that payload range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COUNT(*) GROUP BY Mission_Outcome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successful and failed mission outcomes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subquery WHERE payload = (SELECT MAX(payload))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Boosters that carried the maximum payload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substr(Date,6,2) month, WHERE year 2015 AND drone-ship failure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2015 failed drone-ship landings by month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COUNT(*) GROUP BY Landing_Outcome ORDER BY DESC (2010-06-04 to 2017-03-20)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 landing outcomes in that period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9893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https://github.com/keming-jiao/spacex-capstone/blob/main/04_eda_sql.ipynb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 Analytics – Folium Map &amp; Plotly Dash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 map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folium.Circle + Marker for every launch site (lat/long)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MarkerCluster with green (Class = 1) / red (Class = 0) markers per launch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MousePosition to read coordinates; PolyLine + distance label to the nearest coastline, railway, highway and city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see whether location and surroundings relate to success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Dash dashboard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645920"/>
            <a:ext cx="5394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Dropdown: all sites or one launch site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 chart: successful launches by site (all) or success vs. failure (one site)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RangeSlider: payload range 0–10,000 kg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Scatter: payload vs. outcome, coloured by booster version category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interactively compare sites, payload ranges and boosters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44068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https://github.com/keming-jiao/spacex-capstone/blob/main/06_launch_site_folium.ipynb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85216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https://github.com/keming-jiao/spacex-capstone/blob/main/07_spacex_dash_app.py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Analysis (Classification)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models were built, evaluated, improved and selected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X (dataset_part_3) and Y = Class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rot="5400000">
            <a:off x="2151888" y="174193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80488" y="137160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80488" y="137160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on 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4075176" y="174193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3776" y="137160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03776" y="137160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train_test_split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80/20, random_state=2 (test n=18)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5400000">
            <a:off x="5998464" y="174193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137160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7064" y="137160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(cv=10) for LR, SVM, Tree, KNN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5400000">
            <a:off x="7921752" y="174193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0352" y="137160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50352" y="137160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on test set + confusion matrix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rot="5400000">
            <a:off x="9845040" y="1741932"/>
            <a:ext cx="164592" cy="219456"/>
          </a:xfrm>
          <a:prstGeom prst="rtTriangl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73640" y="137160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73640" y="1371600"/>
            <a:ext cx="1630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best model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560320"/>
            <a:ext cx="11247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Hyper-parameters tuned: LR (C), SVM (kernel, C, gamma), Decision Tree (criterion, splitter, max_depth, min_samples), KNN (n_neighbors, algorithm, p)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improvement: grid search picks parameters by 10-fold cross-validation accuracy on the training set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test-set accuracy, confusion matrix, comparison with a majority-class baseline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rule: highest test accuracy; ties broken by cross-validation accuracy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9893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https://github.com/keming-jiao/spacex-capstone/blob/main/08_machine_learning_prediction.ipynb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results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 grows with flight number and year; 66.7% overall. Orbit type and payload matter.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371600"/>
            <a:ext cx="3566160" cy="73152"/>
          </a:xfrm>
          <a:prstGeom prst="rect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analytics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148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sites sit near the coast; KSC LC-39A has the most successes; heavier payloads tie to newer boosters.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56616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371600"/>
            <a:ext cx="3566160" cy="73152"/>
          </a:xfrm>
          <a:prstGeom prst="rect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analysis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148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best: 83.3% test accuracy; no false negatives.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— Flight Number vs. Launch Site</a:t>
            </a:r>
            <a:endParaRPr lang="en-US" sz="2600" dirty="0"/>
          </a:p>
        </p:txBody>
      </p:sp>
      <p:pic>
        <p:nvPicPr>
          <p:cNvPr id="4" name="Image 0" descr="/home/claude/cap/img/eda_flight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863840" cy="32421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325880"/>
            <a:ext cx="3136392" cy="3242153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874520"/>
            <a:ext cx="2834640" cy="2510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flights (&lt; 25) were mostly from CCAFS SLC 40 and mostly failed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flights succeed far more often at every site — experience matters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KSC LC 39A only starts after flight ~25, so it benefits from later, more mature boosters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— Payload Mass vs. Launch Site</a:t>
            </a:r>
            <a:endParaRPr lang="en-US" sz="2600" dirty="0"/>
          </a:p>
        </p:txBody>
      </p:sp>
      <p:pic>
        <p:nvPicPr>
          <p:cNvPr id="4" name="Image 0" descr="/home/claude/cap/img/eda_payload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863840" cy="32462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325880"/>
            <a:ext cx="3136392" cy="3246265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874520"/>
            <a:ext cx="2834640" cy="2514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VAFB SLC 4E launches no payload heavier than ~10,000 kg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payloads (&gt; 8,000 kg) mostly landed successfully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payloads at CCAFS SLC 40 show many early failures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— Success Rate vs. Orbit Type</a:t>
            </a:r>
            <a:endParaRPr lang="en-US" sz="2600" dirty="0"/>
          </a:p>
        </p:txBody>
      </p:sp>
      <p:pic>
        <p:nvPicPr>
          <p:cNvPr id="4" name="Image 0" descr="/home/claude/cap/img/eda_orbit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863840" cy="32421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325880"/>
            <a:ext cx="3136392" cy="3242153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874520"/>
            <a:ext cx="2834640" cy="2510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ES-L1, GEO, HEO and SSO: 100% success (but GEO/HEO/ES-L1 have only 1 launch each)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VLEO 86% (n=14) is the most reliable orbit with a meaningful sample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GTO is the hardest: 52% of 27 launches; SO 0% (n=1)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— Flight Number vs. Orbit Type</a:t>
            </a:r>
            <a:endParaRPr lang="en-US" sz="2600" dirty="0"/>
          </a:p>
        </p:txBody>
      </p:sp>
      <p:pic>
        <p:nvPicPr>
          <p:cNvPr id="4" name="Image 0" descr="/home/claude/cap/img/eda_flight_or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863840" cy="32421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325880"/>
            <a:ext cx="3136392" cy="3242153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874520"/>
            <a:ext cx="2834640" cy="2510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LEO, success appears linked to the number of flights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GTO there is no clear relationship with flight number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VLEO launches only began at high flight numbers and mostly succeed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— Payload Mass vs. Orbit Type</a:t>
            </a:r>
            <a:endParaRPr lang="en-US" sz="2600" dirty="0"/>
          </a:p>
        </p:txBody>
      </p:sp>
      <p:pic>
        <p:nvPicPr>
          <p:cNvPr id="4" name="Image 0" descr="/home/claude/cap/img/eda_payload_or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863840" cy="32503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325880"/>
            <a:ext cx="3136392" cy="3250387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874520"/>
            <a:ext cx="2834640" cy="25188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heavy payloads, successful landings are more common for PO, LEO and ISS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GTO mixes successes and failures across all payload masses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alone does not separate the classes — orbit must be considered too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— Launch Success Yearly Trend</a:t>
            </a:r>
            <a:endParaRPr lang="en-US" sz="2600" dirty="0"/>
          </a:p>
        </p:txBody>
      </p:sp>
      <p:pic>
        <p:nvPicPr>
          <p:cNvPr id="4" name="Image 0" descr="/home/claude/cap/img/eda_yea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863840" cy="32421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325880"/>
            <a:ext cx="3136392" cy="3242153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874520"/>
            <a:ext cx="2834640" cy="2510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success from 2010 to 2013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 kept increasing from 2013 to 2020 (90% in 2019)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dip in 2018 when new Block 4/5 hardware was introduced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Result — All Launch Site Names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Launch_Site FROM SPACEXTABLE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4572000" cy="914400"/>
        </p:xfrm>
        <a:graphic>
          <a:graphicData uri="http://schemas.openxmlformats.org/drawingml/2006/table">
            <a:tbl>
              <a:tblPr/>
              <a:tblGrid>
                <a:gridCol w="4572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Launch_Site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CCAFS LC-40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VAFB SLC-4E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KSC LC-39A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CCAFS SLC-40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used 4 unique launch sites (CCAFS LC-40 and SLC-40 are the same pad renamed).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Result — Launch Site Names Beginning with 'CCA'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Date, Booster_Version, Launch_Site, Payload, Customer, Landing_Outcome FROM SPACEXTABLE WHERE Launch_Site LIKE 'CCA%' LIMIT 5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280160"/>
                <a:gridCol w="3931920"/>
                <a:gridCol w="155448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Booster_Version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Launch_Site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Landing_Outcome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2010-06-04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v1.0  B0003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CCAFS LC-40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Dragon Spacecraft Qualification Unit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(parachute)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2010-12-08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v1.0  B0004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CCAFS LC-40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Dragon demo flight C1, two CubeSats, barrel of Brouere cheese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NASA (COTS) NRO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(parachute)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2012-05-22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v1.0  B0005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CCAFS LC-40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Dragon demo flight C2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NASA (COTS)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attempt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2012-10-08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v1.0  B0006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CCAFS LC-40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SpaceX CRS-1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NASA (CRS)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attempt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2013-03-01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v1.0  B0007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CCAFS LC-40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SpaceX CRS-2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NASA (CRS)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attempt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5 launches were all from CCAFS LC-40; early landings failed or were not attempted.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Result — Total Payload Mass (NASA CRS)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SUM(PAYLOAD_MASS__KG_) AS total_payload FROM SPACEXTABLE WHERE Customer='NASA (CRS)'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total_payload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Boosters launched for NASA (CRS) carried 45,596 kg in total.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Result — Average Payload Mass by F9 v1.1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ROUND(AVG(PAYLOAD_MASS__KG_),2) AS avg_payload FROM SPACEXTABLE WHERE Booster_Version LIKE 'F9 v1.1%'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avg_payload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2534.67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F9 v1.1 booster family carried on average 2534.67 kg per launch.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Result — First Successful Ground Landing Date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MIN(Date) AS first_success FROM SPACEXTABLE WHERE Landing_Outcome='Success (ground pad)'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first_success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2015-12-22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successful ground-pad landing happened on 2015-12-22.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Result — Successful Drone Ship Landing with Payload between 4000 and 6000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Booster_Version FROM SPACEXTABLE WHERE Landing_Outcome='Success (drone ship)' AND PAYLOAD_MASS__KG_&gt;4000 AND PAYLOAD_MASS__KG_&lt;6000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Booster_Version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FT B1022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FT B1026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FT  B1021.2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FT  B1031.2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F9 FT boosters landed on a drone ship while carrying 4,000–6,000 kg.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Result — Total Number of Successful and Failure Mission Outcomes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Mission_Outcome, COUNT(*) AS n FROM SPACEXTABLE GROUP BY Mission_Outcome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Mission_Outcome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(in flight)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(payload status unclear)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of 101 missions succeeded (incl. 1 with unclear payload status); only 1 in-flight failure.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Result — Boosters Carried Maximum Payload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Booster_Version FROM SPACEXTABLE WHERE PAYLOAD_MASS__KG_=(SELECT MAX(PAYLOAD_MASS__KG_) FROM SPACEXTABLE)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Booster_Version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B1048.4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B1049.4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B1051.3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B1056.4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B1048.5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B1051.4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B1049.5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B1060.2 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B1058.3 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B1051.6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B1060.3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B1049.7 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Block 5 (F9 B5) boosters carried the maximum payload (15,600 kg).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Result — 2015 Launch Records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substr(Date,6,2) AS month, Landing_Outcome, Booster_Version, Launch_Site FROM SPACEXTABLE WHERE substr(Date,1,4)='2015' AND Landing_Outcome='Failure (drone ship)'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Landing_Outcome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Booster_Version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Launch_Site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(drone ship)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v1.1 B1012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CCAFS LC-40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(drone ship)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v1.1 B1015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CCAFS LC-40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drone-ship landing failures in 2015 (January and April), both F9 v1.1 from CCAFS LC-40.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Result — Rank Landing Outcomes Between 2010-06-04 and 2017-03-20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Landing_Outcome, COUNT(*) AS n FROM SPACEXTABLE WHERE Date BETWEEN '2010-06-04' AND '2017-03-20' GROUP BY Landing_Outcome ORDER BY n DESC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Landing_Outcome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attempt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(drone ship)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(drone ship)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(ground pad)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Controlled (ocean)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Uncontrolled (ocean)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(parachute)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Precluded (drone ship)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 attempt' was most common; drone-ship successes and failures were tied at 5 each.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 Map — All Launch Site Markers on a Global Map</a:t>
            </a:r>
            <a:endParaRPr lang="en-US" sz="2600" dirty="0"/>
          </a:p>
        </p:txBody>
      </p:sp>
      <p:pic>
        <p:nvPicPr>
          <p:cNvPr id="4" name="Image 0" descr="/home/claude/cap/img/map_si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589520" cy="413154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325880"/>
            <a:ext cx="3410712" cy="413154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1874520"/>
            <a:ext cx="3108960" cy="34000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launch sites are in the USA: Florida (east coast) and California (west coast)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site is very close to the ocean — failed boosters fall into water, not on people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are as far south as possible to gain speed from Earth's rotation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 Map — Color-labeled Launch Records (Success/Failure) per Site</a:t>
            </a:r>
            <a:endParaRPr lang="en-US" sz="2600" dirty="0"/>
          </a:p>
        </p:txBody>
      </p:sp>
      <p:pic>
        <p:nvPicPr>
          <p:cNvPr id="4" name="Image 0" descr="/home/claude/cap/img/map_outco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589520" cy="267367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325880"/>
            <a:ext cx="3410712" cy="3200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18745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marker = successful landing, red = failure (MarkerCluster)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KSC LC 39A and VAFB SLC 4E: about 77% success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CCAFS SLC 40: most launches (55) but lowest rate (60%) because early test flights were there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 Map — Launch Site Proximity Analysis (Coastline, Railway, Highway, City)</a:t>
            </a:r>
            <a:endParaRPr lang="en-US" sz="2600" dirty="0"/>
          </a:p>
        </p:txBody>
      </p:sp>
      <p:pic>
        <p:nvPicPr>
          <p:cNvPr id="4" name="Image 0" descr="/home/claude/cap/img/map_proxim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863840" cy="28780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325880"/>
            <a:ext cx="3136392" cy="3200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87452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 0.94 km, highway 0.66 km, railway 1.37 km — logistics are close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city (Melbourne) is 51.26 km away — safety buffer from people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sites balance easy transport against public safety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Dash — Success Pie Chart: Launch Success Count for All Sites</a:t>
            </a:r>
            <a:endParaRPr lang="en-US" sz="2600" dirty="0"/>
          </a:p>
        </p:txBody>
      </p:sp>
      <p:pic>
        <p:nvPicPr>
          <p:cNvPr id="4" name="Image 0" descr="/home/claude/cap/img/dash_pie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523351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54871" y="1325880"/>
            <a:ext cx="5476881" cy="4937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37751" y="1463040"/>
            <a:ext cx="5266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37751" y="1874520"/>
            <a:ext cx="5175129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screenshot: success pie chart (px.pie) of total successful launches by launch site, dropdown = All Sites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KSC LC-39A contributes the largest share of successful launches (10 of 24)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CCAFS LC-40 is second; CCAFS SLC-40 and VAFB SLC-4E contribute least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Dash — Success Pie Chart: Site with the Highest Launch Success Ratio</a:t>
            </a:r>
            <a:endParaRPr lang="en-US" sz="2600" dirty="0"/>
          </a:p>
        </p:txBody>
      </p:sp>
      <p:pic>
        <p:nvPicPr>
          <p:cNvPr id="4" name="Image 0" descr="/home/claude/cap/img/dash_pie_b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771481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03001" y="1325880"/>
            <a:ext cx="6228751" cy="4937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85881" y="1463040"/>
            <a:ext cx="6018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85881" y="1874520"/>
            <a:ext cx="5926999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screenshot: success pie chart of success (class 1) vs. failure (class 0) for the selected site KSC LC-39A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KSC LC-39A: 10 successes, 3 failures → 76.9% success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success ratio of all sites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Dash — Payload vs. Launch Outcome Scatter Plot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of payload mass (x) vs. launch outcome class (y), coloured by booster version; left 0–10,000 kg, right 2,000–5,000 kg</a:t>
            </a:r>
            <a:endParaRPr lang="en-US" sz="1400" dirty="0"/>
          </a:p>
        </p:txBody>
      </p:sp>
      <p:pic>
        <p:nvPicPr>
          <p:cNvPr id="5" name="Image 0" descr="/home/claude/cap/img/dash_scatte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486400" cy="3497509"/>
          </a:xfrm>
          <a:prstGeom prst="rect">
            <a:avLst/>
          </a:prstGeom>
        </p:spPr>
      </p:pic>
      <p:pic>
        <p:nvPicPr>
          <p:cNvPr id="6" name="Image 1" descr="/home/claude/cap/img/dash_scatter_m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349750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vs. launch outcome scatter plot: success rate for payloads ≤ 4,000 kg is 47.1% vs. 36.4% above 4,000 kg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boosters have the highest success rate among common versions (67%, n=24); v1.1 the lowest (7%, n=15)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Analysis Results — Model Accuracy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Regression, SVM, Decision Tree and KNN evaluated on the test set</a:t>
            </a:r>
            <a:endParaRPr lang="en-US" sz="1400" dirty="0"/>
          </a:p>
        </p:txBody>
      </p:sp>
      <p:pic>
        <p:nvPicPr>
          <p:cNvPr id="5" name="Image 0" descr="/home/claude/cap/img/ml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949440" cy="2865159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 acc.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680960" y="3474720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LR, SVM and KNN tie on the test set (83.3%, 15/18 correct); Decision Tree drops to 72.2%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has the highest CV accuracy (84.8%) → best model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Majority-class baseline is 66.7% — the models add ~17 points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Analysis Results — Confusion Matrix of the Best Model (SVM)</a:t>
            </a:r>
            <a:endParaRPr lang="en-US" sz="2600" dirty="0"/>
          </a:p>
        </p:txBody>
      </p:sp>
      <p:pic>
        <p:nvPicPr>
          <p:cNvPr id="4" name="Image 0" descr="/home/claude/cap/img/ml_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120640" cy="42792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positives 12: every real landing in the test set was predicted correctly (recall = 100%)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negatives 3; false negatives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3: the model sometimes predicts a landing that did not happen (precision = 80.0%)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meaning: the model is optimistic — a bidder using it might under-estimate SpaceX's cost on risky missions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parameters: kernel='sigmoid', C=1, gamma=0.0316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success depends strongly on experience: from 0% before 2014 to 90% in 2019, and 100% for the last 10 flights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 matters: ES-L1, GEO, HEO, SSO and VLEO launches land most reliably; GTO is hardest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KSC LC-39A has the most successful launches and the highest success ratio of any site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sites are close to coastline, highways and railways, but far from cities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is the best classifier (83.3% test, 84.8% CV accuracy); all models catch every real landing but over-predict success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Space Y: a launch to GTO with an older booster is the highest-risk scenario and should be priced with less reuse savings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Insights — Beyond the Template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drives a landing? Experience and hardware, not just payload</a:t>
            </a:r>
            <a:endParaRPr lang="en-US" sz="1400" dirty="0"/>
          </a:p>
        </p:txBody>
      </p:sp>
      <p:pic>
        <p:nvPicPr>
          <p:cNvPr id="5" name="Image 0" descr="/home/claude/cap/img/insight_le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498080" cy="25704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280160"/>
            <a:ext cx="3502152" cy="4754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0" y="1417320"/>
            <a:ext cx="3200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curve: flights 1–20 landed only 25%; flights 81–90 landed 100%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 boosters: 21%; Block 5: 85% (n=39)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boosters landed more often (78% vs. 58%) — reuse did not add risk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GridFins is the single most important feature in the tree model (54% importance): it marks a real landing attempt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72000"/>
            <a:ext cx="7498080" cy="1188720"/>
          </a:xfrm>
          <a:prstGeom prst="rect">
            <a:avLst/>
          </a:prstGeom>
          <a:solidFill>
            <a:srgbClr val="FFF1E6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for Space Y: price bids with a cost model = base cost − P(landing) × booster value, using P(landing) from the classifier.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01168" cy="20116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74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Hyper-parameters and Feature Importance</a:t>
            </a:r>
            <a:endParaRPr lang="en-US" sz="2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400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parameters (GridSearchCV, cv=10)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C=1, penalty=l2, solver=lbfgs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C=1, gamma=0.0316, kernel=sigmoid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criterion=gini, max_depth=10, max_features=sqrt, min_samples_leaf=1, min_samples_split=2, splitter=random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algorithm=auto, n_neighbors=6, p=1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claude/cap/img/insight_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25880"/>
            <a:ext cx="4572000" cy="31697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754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files: dataset_part_1.csv (API), spacex_web_scraped.csv (scraping), dataset_part_2.csv (labelled), dataset_part_3.csv (features), Spacex.csv (SQL), spacex_launch_dash.csv (dashboard)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59893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URL: </a:t>
            </a:r>
            <a:pPr indent="0" marL="0">
              <a:buNone/>
            </a:pPr>
            <a:r>
              <a:rPr lang="en-US" sz="11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FC7A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https://github.com/keming-jiao/spacex-capstone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Capstone Project Report</dc:title>
  <dc:subject>PptxGenJS Presentation</dc:subject>
  <dc:creator>Keming (Jolin) Jiao</dc:creator>
  <cp:lastModifiedBy>Keming (Jolin) Jiao</cp:lastModifiedBy>
  <cp:revision>1</cp:revision>
  <dcterms:created xsi:type="dcterms:W3CDTF">2026-10-02T06:33:33Z</dcterms:created>
  <dcterms:modified xsi:type="dcterms:W3CDTF">2026-10-02T06:33:33Z</dcterms:modified>
</cp:coreProperties>
</file>